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62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23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16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83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09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75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92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08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66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54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518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097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45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709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814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55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43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433F7D-6FCD-421D-A8DA-9CF553C0292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A98A91-2A76-4BB3-A405-6D12A6A89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8166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063" r:id="rId1"/>
    <p:sldLayoutId id="2147485064" r:id="rId2"/>
    <p:sldLayoutId id="2147485065" r:id="rId3"/>
    <p:sldLayoutId id="2147485066" r:id="rId4"/>
    <p:sldLayoutId id="2147485067" r:id="rId5"/>
    <p:sldLayoutId id="2147485068" r:id="rId6"/>
    <p:sldLayoutId id="2147485069" r:id="rId7"/>
    <p:sldLayoutId id="2147485070" r:id="rId8"/>
    <p:sldLayoutId id="2147485071" r:id="rId9"/>
    <p:sldLayoutId id="2147485072" r:id="rId10"/>
    <p:sldLayoutId id="2147485073" r:id="rId11"/>
    <p:sldLayoutId id="2147485074" r:id="rId12"/>
    <p:sldLayoutId id="2147485075" r:id="rId13"/>
    <p:sldLayoutId id="2147485076" r:id="rId14"/>
    <p:sldLayoutId id="2147485077" r:id="rId15"/>
    <p:sldLayoutId id="2147485078" r:id="rId16"/>
    <p:sldLayoutId id="21474850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60A1-CAC1-67D8-C990-4F755BC47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4998" y="1555839"/>
            <a:ext cx="7760209" cy="2350344"/>
          </a:xfrm>
        </p:spPr>
        <p:txBody>
          <a:bodyPr>
            <a:normAutofit/>
          </a:bodyPr>
          <a:lstStyle/>
          <a:p>
            <a:r>
              <a:rPr lang="en-IN" dirty="0"/>
              <a:t>E-Commerce Analytics	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A5A1F-4E58-C4BA-7B68-DA76D8FA8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5511" y="4431452"/>
            <a:ext cx="7197726" cy="140546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Capstone Project – Excel, SQL &amp; Power BI </a:t>
            </a:r>
          </a:p>
          <a:p>
            <a:r>
              <a:rPr lang="en-US" dirty="0"/>
              <a:t>Prepared by: Ganesh 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741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E8EE4-B9F9-5C57-D932-7D0E3AC6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54024"/>
          </a:xfrm>
        </p:spPr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3F55C-CF53-94D6-8DB0-29C7A17BE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65536" cy="448373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Developed an E-Commerce Dashboard using Power BI</a:t>
            </a:r>
          </a:p>
          <a:p>
            <a:r>
              <a:rPr lang="en-IN" sz="2400" b="1" dirty="0">
                <a:cs typeface="Times New Roman" panose="02020603050405020304" pitchFamily="18" charset="0"/>
              </a:rPr>
              <a:t>Data Set:  </a:t>
            </a:r>
            <a:r>
              <a:rPr lang="en-IN" sz="2400" dirty="0">
                <a:cs typeface="Times New Roman" panose="02020603050405020304" pitchFamily="18" charset="0"/>
              </a:rPr>
              <a:t>Microsoft Excel</a:t>
            </a:r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b="1" dirty="0">
                <a:cs typeface="Times New Roman" panose="02020603050405020304" pitchFamily="18" charset="0"/>
              </a:rPr>
              <a:t>Data Source: My</a:t>
            </a:r>
            <a:r>
              <a:rPr lang="en-US" sz="2400" dirty="0">
                <a:cs typeface="Times New Roman" panose="02020603050405020304" pitchFamily="18" charset="0"/>
              </a:rPr>
              <a:t>SQL Database</a:t>
            </a:r>
          </a:p>
          <a:p>
            <a:r>
              <a:rPr lang="en-IN" sz="2400" b="1" dirty="0">
                <a:cs typeface="Times New Roman" panose="02020603050405020304" pitchFamily="18" charset="0"/>
              </a:rPr>
              <a:t>Tool Used: </a:t>
            </a:r>
            <a:r>
              <a:rPr lang="en-IN" sz="2400" dirty="0">
                <a:cs typeface="Times New Roman" panose="02020603050405020304" pitchFamily="18" charset="0"/>
              </a:rPr>
              <a:t>Power BI</a:t>
            </a:r>
          </a:p>
          <a:p>
            <a:r>
              <a:rPr lang="en-US" sz="2400" b="1" dirty="0">
                <a:cs typeface="Times New Roman" panose="02020603050405020304" pitchFamily="18" charset="0"/>
              </a:rPr>
              <a:t>Domain: </a:t>
            </a:r>
            <a:r>
              <a:rPr lang="en-US" sz="2400" dirty="0">
                <a:cs typeface="Times New Roman" panose="02020603050405020304" pitchFamily="18" charset="0"/>
              </a:rPr>
              <a:t>Online Retail (Amazon Model)</a:t>
            </a:r>
          </a:p>
          <a:p>
            <a:r>
              <a:rPr lang="en-US" sz="2400" b="1" dirty="0">
                <a:cs typeface="Times New Roman" panose="02020603050405020304" pitchFamily="18" charset="0"/>
              </a:rPr>
              <a:t>Objective:  </a:t>
            </a:r>
            <a:r>
              <a:rPr lang="en-US" sz="2400" dirty="0">
                <a:cs typeface="Times New Roman" panose="02020603050405020304" pitchFamily="18" charset="0"/>
              </a:rPr>
              <a:t>To develop an interactive E-Commerce analytics dashboard 				  				    using </a:t>
            </a:r>
            <a:r>
              <a:rPr lang="en-US" sz="2400" b="1" dirty="0">
                <a:cs typeface="Times New Roman" panose="02020603050405020304" pitchFamily="18" charset="0"/>
              </a:rPr>
              <a:t>Microsoft Power BI</a:t>
            </a:r>
            <a:r>
              <a:rPr lang="en-US" sz="2400" dirty="0">
                <a:cs typeface="Times New Roman" panose="02020603050405020304" pitchFamily="18" charset="0"/>
              </a:rPr>
              <a:t> that converts raw sales data into clear 		                			    business insights for improving revenue, customer experience,    				  			    and operational efficiency.</a:t>
            </a:r>
          </a:p>
          <a:p>
            <a:r>
              <a:rPr lang="en-IN" sz="2400" b="1" dirty="0">
                <a:cs typeface="Times New Roman" panose="02020603050405020304" pitchFamily="18" charset="0"/>
              </a:rPr>
              <a:t>Table Used: </a:t>
            </a:r>
            <a:r>
              <a:rPr lang="en-US" sz="2400" dirty="0">
                <a:cs typeface="Times New Roman" panose="02020603050405020304" pitchFamily="18" charset="0"/>
              </a:rPr>
              <a:t>Analyze Sales, Customers, Products, Orders, Payment methods, 		              				      Delivery Performance, Refund &amp; Customer Feedback.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832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BC8D-112B-15E8-CC4F-0F30969B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649225"/>
            <a:ext cx="9520158" cy="905255"/>
          </a:xfrm>
        </p:spPr>
        <p:txBody>
          <a:bodyPr/>
          <a:lstStyle/>
          <a:p>
            <a:pPr algn="ctr"/>
            <a:r>
              <a:rPr lang="en-US" dirty="0"/>
              <a:t>Data Set (Excel Sample)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5B516F-E440-3446-58D3-515CD9D19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4696" y="1554480"/>
            <a:ext cx="9520158" cy="498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320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A8BA2A-A848-0BD4-0C45-D2963F8C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42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Data Model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96BA27-83D7-908D-28C4-472B83610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60704"/>
            <a:ext cx="11448288" cy="579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2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1DDCD2-61C2-EF2C-1FD7-3B58262C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DAX(</a:t>
            </a:r>
            <a:r>
              <a:rPr lang="en-IN" sz="3600" dirty="0">
                <a:effectLst/>
              </a:rPr>
              <a:t>Data Analysis Expressions)/Measure</a:t>
            </a:r>
            <a:br>
              <a:rPr lang="en-IN" sz="3600" dirty="0">
                <a:effectLst/>
              </a:rPr>
            </a:br>
            <a:r>
              <a:rPr lang="en-IN" sz="3600" dirty="0">
                <a:effectLst/>
              </a:rPr>
              <a:t>Key Metrics Used</a:t>
            </a:r>
            <a:endParaRPr lang="en-IN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DE28D-92C5-C4C7-D03A-A17CEEB8A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73423"/>
          </a:xfrm>
        </p:spPr>
        <p:txBody>
          <a:bodyPr>
            <a:normAutofit/>
          </a:bodyPr>
          <a:lstStyle/>
          <a:p>
            <a:r>
              <a:rPr lang="en-US" b="1" dirty="0"/>
              <a:t>Total Customers </a:t>
            </a:r>
            <a:r>
              <a:rPr lang="en-US" dirty="0"/>
              <a:t>= count('</a:t>
            </a:r>
            <a:r>
              <a:rPr lang="en-US" dirty="0" err="1"/>
              <a:t>amazonn</a:t>
            </a:r>
            <a:r>
              <a:rPr lang="en-US" dirty="0"/>
              <a:t> customers'[</a:t>
            </a:r>
            <a:r>
              <a:rPr lang="en-US" dirty="0" err="1"/>
              <a:t>CustomerID</a:t>
            </a:r>
            <a:r>
              <a:rPr lang="en-US" dirty="0"/>
              <a:t>])</a:t>
            </a:r>
          </a:p>
          <a:p>
            <a:r>
              <a:rPr lang="en-IN" b="1" dirty="0"/>
              <a:t>Total Revenue </a:t>
            </a:r>
            <a:r>
              <a:rPr lang="en-IN" dirty="0"/>
              <a:t>= </a:t>
            </a:r>
            <a:r>
              <a:rPr lang="en-IN" dirty="0" err="1"/>
              <a:t>sumx</a:t>
            </a:r>
            <a:r>
              <a:rPr lang="en-IN" dirty="0"/>
              <a:t>('</a:t>
            </a:r>
            <a:r>
              <a:rPr lang="en-IN" dirty="0" err="1"/>
              <a:t>amazonn</a:t>
            </a:r>
            <a:r>
              <a:rPr lang="en-IN" dirty="0"/>
              <a:t> orders','</a:t>
            </a:r>
            <a:r>
              <a:rPr lang="en-IN" dirty="0" err="1"/>
              <a:t>amazonn</a:t>
            </a:r>
            <a:r>
              <a:rPr lang="en-IN" dirty="0"/>
              <a:t> orders'[quantity] * RELATED('</a:t>
            </a:r>
            <a:r>
              <a:rPr lang="en-IN" dirty="0" err="1"/>
              <a:t>amazonn</a:t>
            </a:r>
            <a:r>
              <a:rPr lang="en-IN" dirty="0"/>
              <a:t> products'[price]))</a:t>
            </a:r>
          </a:p>
          <a:p>
            <a:r>
              <a:rPr lang="en-US" b="1" dirty="0"/>
              <a:t>Avg Sales </a:t>
            </a:r>
            <a:r>
              <a:rPr lang="en-US" dirty="0"/>
              <a:t>= DIVIDE([Total Revenue],count('</a:t>
            </a:r>
            <a:r>
              <a:rPr lang="en-US" dirty="0" err="1"/>
              <a:t>amazonn</a:t>
            </a:r>
            <a:r>
              <a:rPr lang="en-US" dirty="0"/>
              <a:t> orders'[</a:t>
            </a:r>
            <a:r>
              <a:rPr lang="en-US" dirty="0" err="1"/>
              <a:t>order_id</a:t>
            </a:r>
            <a:r>
              <a:rPr lang="en-US" dirty="0"/>
              <a:t>]))</a:t>
            </a:r>
          </a:p>
          <a:p>
            <a:r>
              <a:rPr lang="en-US" b="1" dirty="0"/>
              <a:t>Avg Delivery Rating </a:t>
            </a:r>
            <a:r>
              <a:rPr lang="en-US" dirty="0"/>
              <a:t>= AVERAGE('</a:t>
            </a:r>
            <a:r>
              <a:rPr lang="en-US" dirty="0" err="1"/>
              <a:t>amazonn</a:t>
            </a:r>
            <a:r>
              <a:rPr lang="en-US" dirty="0"/>
              <a:t> </a:t>
            </a:r>
            <a:r>
              <a:rPr lang="en-US" dirty="0" err="1"/>
              <a:t>delivery_person</a:t>
            </a:r>
            <a:r>
              <a:rPr lang="en-US" dirty="0"/>
              <a:t>'[rating])</a:t>
            </a:r>
          </a:p>
          <a:p>
            <a:r>
              <a:rPr lang="en-US" b="1" dirty="0"/>
              <a:t>Average Product Rating </a:t>
            </a:r>
            <a:r>
              <a:rPr lang="en-US" dirty="0"/>
              <a:t>= AVERAGE('</a:t>
            </a:r>
            <a:r>
              <a:rPr lang="en-US" dirty="0" err="1"/>
              <a:t>amazonn</a:t>
            </a:r>
            <a:r>
              <a:rPr lang="en-US" dirty="0"/>
              <a:t> feedback'[rating])</a:t>
            </a:r>
          </a:p>
          <a:p>
            <a:r>
              <a:rPr lang="en-US" b="1" dirty="0"/>
              <a:t>Positive Count </a:t>
            </a:r>
            <a:r>
              <a:rPr lang="en-US" dirty="0"/>
              <a:t>= CALCULATE(count('</a:t>
            </a:r>
            <a:r>
              <a:rPr lang="en-US" dirty="0" err="1"/>
              <a:t>amazonn</a:t>
            </a:r>
            <a:r>
              <a:rPr lang="en-US" dirty="0"/>
              <a:t> feedback'[</a:t>
            </a:r>
            <a:r>
              <a:rPr lang="en-US" dirty="0" err="1"/>
              <a:t>feedback_id</a:t>
            </a:r>
            <a:r>
              <a:rPr lang="en-US" dirty="0"/>
              <a:t>]), '</a:t>
            </a:r>
            <a:r>
              <a:rPr lang="en-US" dirty="0" err="1"/>
              <a:t>amazonn</a:t>
            </a:r>
            <a:r>
              <a:rPr lang="en-US" dirty="0"/>
              <a:t> feedback'[sentiment] = "Positive")</a:t>
            </a:r>
          </a:p>
          <a:p>
            <a:r>
              <a:rPr lang="en-US" b="1" dirty="0"/>
              <a:t>Refund count </a:t>
            </a:r>
            <a:r>
              <a:rPr lang="en-US" dirty="0"/>
              <a:t>= CALCULATE(COUNTROWS('</a:t>
            </a:r>
            <a:r>
              <a:rPr lang="en-US" dirty="0" err="1"/>
              <a:t>amazonn</a:t>
            </a:r>
            <a:r>
              <a:rPr lang="en-US" dirty="0"/>
              <a:t> refund'),'</a:t>
            </a:r>
            <a:r>
              <a:rPr lang="en-US" dirty="0" err="1"/>
              <a:t>amazonn</a:t>
            </a:r>
            <a:r>
              <a:rPr lang="en-US" dirty="0"/>
              <a:t> refund'[</a:t>
            </a:r>
            <a:r>
              <a:rPr lang="en-US" dirty="0" err="1"/>
              <a:t>RefundType</a:t>
            </a:r>
            <a:r>
              <a:rPr lang="en-US" dirty="0"/>
              <a:t>] = "Refund")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56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5E6D-7587-EC87-AE9A-09894818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219457"/>
            <a:ext cx="9520158" cy="66751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KPI(Key Performance Indicators)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FD85A-64B6-23D3-B744-CD1DAC3EC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646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Sales KPI: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 Total Orders, Total Revenue, &amp; Avg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Payment KPIs: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Total Payments, Successful payment, Failed Payment, &amp; Successful &amp; Failed payment %.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Delivery KPIs: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Average Delivery Time &amp; </a:t>
            </a:r>
            <a:r>
              <a:rPr lang="en-IN" dirty="0" err="1"/>
              <a:t>Avg</a:t>
            </a:r>
            <a:r>
              <a:rPr lang="en-IN" dirty="0"/>
              <a:t> Delivery Rating.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Customer KPIs: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Total Customers, Top City of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Refund &amp; Exchange KPIs: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Total Orders, Exchange count, Exchange % , Refund %, &amp; Refund count.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Feedback KPIs: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Total Revenue, </a:t>
            </a:r>
            <a:r>
              <a:rPr lang="en-IN" dirty="0" err="1"/>
              <a:t>Avg</a:t>
            </a:r>
            <a:r>
              <a:rPr lang="en-IN" dirty="0"/>
              <a:t> Delivery Rating and </a:t>
            </a:r>
            <a:r>
              <a:rPr lang="en-IN" dirty="0" err="1"/>
              <a:t>Avg</a:t>
            </a:r>
            <a:r>
              <a:rPr lang="en-IN" dirty="0"/>
              <a:t> Product Rating.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104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4C8C-26D9-3404-B662-93ECD2A5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301753"/>
            <a:ext cx="9520158" cy="731519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KPI Cards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A07AA7-951F-C2D3-5D71-D2C6851AC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8455" y="1115726"/>
            <a:ext cx="9692640" cy="1325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B65CD7-D44B-C54D-709D-2B1A45DDA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799" y="2459580"/>
            <a:ext cx="9607296" cy="1966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E9D7FB-83D9-F570-BC1C-2D87C1030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799" y="4425856"/>
            <a:ext cx="9607296" cy="149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04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CDED-3105-DF82-6823-63532076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840" y="543917"/>
            <a:ext cx="9520158" cy="46061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Sales Dashboard Charts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E6BA73-8885-6175-F2ED-01CB57E27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5019" y="1004527"/>
            <a:ext cx="5257800" cy="2863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E5DA7-FBB1-9A8C-F5B0-F9FDF879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119" y="3990873"/>
            <a:ext cx="10515600" cy="232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25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7F13-1886-FE95-70D6-E3E93A2A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420625"/>
            <a:ext cx="9520158" cy="63093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Customer Dashboard Charts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D4B4B8-054D-1ADA-316F-0B1974C9C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1947" y="2111307"/>
            <a:ext cx="5245370" cy="2635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DDB8E0-F86D-89E3-212E-D55FA8CC9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84494"/>
            <a:ext cx="4343400" cy="428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42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C9CA-C2F2-83A5-4875-9AA1C77E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56708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Delivery Performance Charts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39B208-77D3-DA4B-BF85-97411F1D2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6169" y="1658710"/>
            <a:ext cx="4343400" cy="4138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19BE5F-27C9-A79B-E197-95B17213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96" y="1658710"/>
            <a:ext cx="3775390" cy="413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98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C55A-DB21-94D1-C975-AC0E7EEA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420625"/>
            <a:ext cx="9520158" cy="64007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Payment Dashboard Charts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2B5E0D-9087-0FB0-8FA8-F79C8A0F4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203" y="1307592"/>
            <a:ext cx="9520158" cy="497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05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E4792-F4DA-7F32-1610-3223F001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51221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Refund &amp; Exchange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65AD86-664F-6ACE-FED7-0D7C07EDA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864" y="1435608"/>
            <a:ext cx="9856990" cy="485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68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7EA2-8841-81D4-8504-BE6C1EB2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548488"/>
            <a:ext cx="9520158" cy="58771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Customer Feedback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E9B386-8761-3CBC-A89F-D3A57E2AB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962" y="1352651"/>
            <a:ext cx="9452892" cy="528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45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5FDF-3D73-4F8C-7838-AFB86C48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Insights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90085-EBEF-D224-1685-37BD6D26D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Identified high-performing product categories</a:t>
            </a:r>
          </a:p>
          <a:p>
            <a:pPr marL="0" indent="0">
              <a:buNone/>
            </a:pPr>
            <a:r>
              <a:rPr lang="en-US" dirty="0"/>
              <a:t>• Analyzed customer buying patterns</a:t>
            </a:r>
          </a:p>
          <a:p>
            <a:pPr marL="0" indent="0">
              <a:buNone/>
            </a:pPr>
            <a:r>
              <a:rPr lang="en-US" dirty="0"/>
              <a:t>• Improved delivery performance tracking</a:t>
            </a:r>
          </a:p>
          <a:p>
            <a:pPr marL="0" indent="0">
              <a:buNone/>
            </a:pPr>
            <a:r>
              <a:rPr lang="en-US" dirty="0"/>
              <a:t>• Reduced refund impact through analysis</a:t>
            </a:r>
          </a:p>
          <a:p>
            <a:pPr marL="0" indent="0">
              <a:buNone/>
            </a:pPr>
            <a:r>
              <a:rPr lang="en-US" dirty="0"/>
              <a:t>• Dashboard helps in strategic decision 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636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16855-9459-A088-FB6E-6F3CC517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43200"/>
            <a:ext cx="10131427" cy="1810512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5400" dirty="0"/>
            </a:br>
            <a:br>
              <a:rPr lang="en-IN" sz="5400" dirty="0"/>
            </a:br>
            <a:br>
              <a:rPr lang="en-IN" sz="5400" dirty="0"/>
            </a:br>
            <a:br>
              <a:rPr lang="en-IN" sz="5400" dirty="0"/>
            </a:br>
            <a:r>
              <a:rPr lang="en-IN" sz="5400" dirty="0"/>
              <a:t>End-to-End Project Implementation</a:t>
            </a:r>
            <a:br>
              <a:rPr lang="en-IN" sz="5400" dirty="0"/>
            </a:br>
            <a:r>
              <a:rPr lang="en-IN" sz="5400" dirty="0"/>
              <a:t>	</a:t>
            </a:r>
            <a:r>
              <a:rPr lang="en-IN" sz="4000" dirty="0"/>
              <a:t>		</a:t>
            </a:r>
            <a:endParaRPr lang="en-IN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45A7A-3AB1-3A1D-A60B-1DD036223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553712"/>
            <a:ext cx="10131428" cy="860400"/>
          </a:xfrm>
        </p:spPr>
        <p:txBody>
          <a:bodyPr>
            <a:normAutofit/>
          </a:bodyPr>
          <a:lstStyle/>
          <a:p>
            <a:r>
              <a:rPr lang="en-US" dirty="0"/>
              <a:t> 						</a:t>
            </a:r>
          </a:p>
          <a:p>
            <a:pPr algn="r"/>
            <a:r>
              <a:rPr lang="en-US" dirty="0"/>
              <a:t>		</a:t>
            </a:r>
            <a:r>
              <a:rPr lang="en-IN" dirty="0"/>
              <a:t>Presented by </a:t>
            </a:r>
            <a:r>
              <a:rPr lang="en-US" dirty="0"/>
              <a:t>- Ganesh Kamalanathan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182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174</TotalTime>
  <Words>451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Celestial</vt:lpstr>
      <vt:lpstr>E-Commerce Analytics Dashboard</vt:lpstr>
      <vt:lpstr>Project Overview</vt:lpstr>
      <vt:lpstr>Data Set (Excel Sample)</vt:lpstr>
      <vt:lpstr>Data Model Design</vt:lpstr>
      <vt:lpstr>DAX(Data Analysis Expressions)/Measure Key Metrics Used</vt:lpstr>
      <vt:lpstr> KPI(Key Performance Indicators)</vt:lpstr>
      <vt:lpstr>KPI Cards</vt:lpstr>
      <vt:lpstr>Sales Dashboard Charts</vt:lpstr>
      <vt:lpstr>Customer Dashboard Charts</vt:lpstr>
      <vt:lpstr>Delivery Performance Charts</vt:lpstr>
      <vt:lpstr>Payment Dashboard Charts</vt:lpstr>
      <vt:lpstr>Refund &amp; Exchange Dashboard</vt:lpstr>
      <vt:lpstr>Customer Feedback Dashboard</vt:lpstr>
      <vt:lpstr>Key Insights &amp; Conclusion</vt:lpstr>
      <vt:lpstr>    End-to-End Project Implementation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73</cp:revision>
  <dcterms:created xsi:type="dcterms:W3CDTF">2026-02-19T17:14:47Z</dcterms:created>
  <dcterms:modified xsi:type="dcterms:W3CDTF">2026-02-21T04:32:33Z</dcterms:modified>
</cp:coreProperties>
</file>